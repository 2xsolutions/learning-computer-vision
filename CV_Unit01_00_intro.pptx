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6"/>
  </p:notesMasterIdLst>
  <p:handoutMasterIdLst>
    <p:handoutMasterId r:id="rId7"/>
  </p:handoutMasterIdLst>
  <p:sldIdLst>
    <p:sldId id="256" r:id="rId2"/>
    <p:sldId id="369" r:id="rId3"/>
    <p:sldId id="293" r:id="rId4"/>
    <p:sldId id="47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if Khan" initials="AK" lastIdx="1" clrIdx="0">
    <p:extLst>
      <p:ext uri="{19B8F6BF-5375-455C-9EA6-DF929625EA0E}">
        <p15:presenceInfo xmlns:p15="http://schemas.microsoft.com/office/powerpoint/2012/main" userId="Asif K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0" autoAdjust="0"/>
    <p:restoredTop sz="88462" autoAdjust="0"/>
  </p:normalViewPr>
  <p:slideViewPr>
    <p:cSldViewPr snapToGrid="0">
      <p:cViewPr varScale="1">
        <p:scale>
          <a:sx n="100" d="100"/>
          <a:sy n="100" d="100"/>
        </p:scale>
        <p:origin x="8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ED4DC1-F317-4D8A-8972-1A757A4D05F9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B6AA0B-0B06-4871-9861-E0DAE97462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229812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A62B6-8235-4A7C-8403-CEED7F26C7E5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93A92-C27D-47D1-8B2A-7E8A5CD750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97200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93A92-C27D-47D1-8B2A-7E8A5CD75095}" type="slidenum">
              <a:rPr lang="en-GB" smtClean="0"/>
              <a:t>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6877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0932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153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none"/>
        </p:style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Computer Vision by Dr. M Asif Khan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7A16-2A17-4549-A1D9-B9B2F7AEB8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9857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85316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Computer Vision by Dr. M Asif Khan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7A16-2A17-4549-A1D9-B9B2F7AEB8FC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6" t="4411" r="4469"/>
          <a:stretch/>
        </p:blipFill>
        <p:spPr>
          <a:xfrm>
            <a:off x="8133" y="6343095"/>
            <a:ext cx="1411549" cy="51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863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noFill/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Computer Vision by Dr. M Asif Khan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7A16-2A17-4549-A1D9-B9B2F7AEB8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741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Computer Vision by Dr. M Asif Khan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7A16-2A17-4549-A1D9-B9B2F7AEB8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406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Computer Vision by Dr. M Asif Khan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7A16-2A17-4549-A1D9-B9B2F7AEB8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5167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Computer Vision by Dr. M Asif Khan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7A16-2A17-4549-A1D9-B9B2F7AEB8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5282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Computer Vision by Dr. M Asif Khan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7A16-2A17-4549-A1D9-B9B2F7AEB8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954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Computer Vision by Dr. M Asif Khan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7A16-2A17-4549-A1D9-B9B2F7AEB8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9572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Computer Vision by Dr. M Asif Khan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7A16-2A17-4549-A1D9-B9B2F7AEB8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7830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Computer Vision by Dr. M Asif Khan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7A16-2A17-4549-A1D9-B9B2F7AEB8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2512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Computer Vision by Dr. M Asif Khan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7A16-2A17-4549-A1D9-B9B2F7AEB8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813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Advanced Computer Vision by Dr. M Asif Khan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B7A16-2A17-4549-A1D9-B9B2F7AEB8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131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smail@iba-suk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2922" y="1632663"/>
            <a:ext cx="9413507" cy="1790700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4000"/>
              <a:t>Computer </a:t>
            </a:r>
            <a:r>
              <a:rPr lang="en-US" sz="4000" dirty="0"/>
              <a:t>Vision</a:t>
            </a:r>
            <a:br>
              <a:rPr lang="en-US" sz="4000"/>
            </a:br>
            <a:r>
              <a:rPr lang="en-US" sz="4000"/>
              <a:t>BS CS-Elective</a:t>
            </a:r>
            <a:endParaRPr lang="en-GB"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4679" y="4056297"/>
            <a:ext cx="6858000" cy="1611202"/>
          </a:xfrm>
        </p:spPr>
        <p:txBody>
          <a:bodyPr>
            <a:normAutofit/>
          </a:bodyPr>
          <a:lstStyle/>
          <a:p>
            <a:r>
              <a:rPr lang="en-US" sz="2000" dirty="0"/>
              <a:t>Instructor : Dr. Mohammad Asif Khan</a:t>
            </a:r>
          </a:p>
          <a:p>
            <a:r>
              <a:rPr lang="en-US" sz="2000" dirty="0"/>
              <a:t>Slides prepared by Dr. M Asif Khan</a:t>
            </a:r>
          </a:p>
          <a:p>
            <a:pPr marL="0" lvl="1">
              <a:spcBef>
                <a:spcPts val="1000"/>
              </a:spcBef>
            </a:pPr>
            <a:r>
              <a:rPr lang="en-US" dirty="0">
                <a:hlinkClick r:id="rId3"/>
              </a:rPr>
              <a:t>asif.khan@iba-suk.edu.pk</a:t>
            </a:r>
            <a:endParaRPr lang="en-GB" dirty="0"/>
          </a:p>
        </p:txBody>
      </p:sp>
      <p:sp>
        <p:nvSpPr>
          <p:cNvPr id="5" name="副标题 2"/>
          <p:cNvSpPr txBox="1">
            <a:spLocks/>
          </p:cNvSpPr>
          <p:nvPr/>
        </p:nvSpPr>
        <p:spPr>
          <a:xfrm>
            <a:off x="3470205" y="5885372"/>
            <a:ext cx="5328592" cy="7479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600" i="1" dirty="0">
                <a:solidFill>
                  <a:schemeClr val="tx1"/>
                </a:solidFill>
              </a:rPr>
              <a:t>Week 01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7" b="15720"/>
          <a:stretch/>
        </p:blipFill>
        <p:spPr>
          <a:xfrm>
            <a:off x="18141" y="10160"/>
            <a:ext cx="1564079" cy="10101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7969" y="0"/>
            <a:ext cx="3262266" cy="92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547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   Course Overview Computer Vision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24560" y="1168401"/>
            <a:ext cx="9631680" cy="4937125"/>
          </a:xfrm>
        </p:spPr>
        <p:txBody>
          <a:bodyPr>
            <a:normAutofit fontScale="55000" lnSpcReduction="20000"/>
          </a:bodyPr>
          <a:lstStyle/>
          <a:p>
            <a:r>
              <a:rPr lang="en-US" sz="2400" b="1" dirty="0"/>
              <a:t>Course Title:</a:t>
            </a:r>
            <a:r>
              <a:rPr lang="en-US" sz="2400" dirty="0"/>
              <a:t> Computer Vision</a:t>
            </a:r>
          </a:p>
          <a:p>
            <a:r>
              <a:rPr lang="en-US" sz="2400" b="1" dirty="0"/>
              <a:t>Instructor: </a:t>
            </a:r>
            <a:r>
              <a:rPr lang="en-US" sz="2400" dirty="0"/>
              <a:t>Dr. Mohammad Asif Khan</a:t>
            </a:r>
          </a:p>
          <a:p>
            <a:r>
              <a:rPr lang="en-US" sz="2400" dirty="0"/>
              <a:t>Instructor Qualification:</a:t>
            </a:r>
          </a:p>
          <a:p>
            <a:pPr lvl="1"/>
            <a:r>
              <a:rPr lang="en-US" sz="2000" dirty="0"/>
              <a:t>PhD. in Mobile Robotics from </a:t>
            </a:r>
            <a:r>
              <a:rPr lang="en-US" sz="2000" dirty="0" err="1"/>
              <a:t>Aberystwyth</a:t>
            </a:r>
            <a:r>
              <a:rPr lang="en-US" sz="2000" dirty="0"/>
              <a:t> University, United Kingdom, 2021</a:t>
            </a:r>
          </a:p>
          <a:p>
            <a:pPr lvl="1"/>
            <a:r>
              <a:rPr lang="en-US" sz="2000" dirty="0"/>
              <a:t>MS Computer Networks from Sukkur IBA </a:t>
            </a:r>
            <a:r>
              <a:rPr lang="en-US" sz="2000" dirty="0" err="1"/>
              <a:t>Univesity</a:t>
            </a:r>
            <a:r>
              <a:rPr lang="en-US" sz="2000" dirty="0"/>
              <a:t>, 2012</a:t>
            </a:r>
          </a:p>
          <a:p>
            <a:pPr lvl="1"/>
            <a:r>
              <a:rPr lang="en-US" sz="2000" dirty="0"/>
              <a:t>B.E in Computer Systems Engineering QUEST </a:t>
            </a:r>
            <a:r>
              <a:rPr lang="en-US" sz="2000" dirty="0" err="1"/>
              <a:t>Nawabshah</a:t>
            </a:r>
            <a:r>
              <a:rPr lang="en-US" sz="2000" dirty="0"/>
              <a:t>, 2007</a:t>
            </a:r>
          </a:p>
          <a:p>
            <a:r>
              <a:rPr lang="en-US" dirty="0"/>
              <a:t>Work Experience:</a:t>
            </a:r>
          </a:p>
          <a:p>
            <a:pPr lvl="1"/>
            <a:r>
              <a:rPr lang="en-US" dirty="0" err="1"/>
              <a:t>Mobilink</a:t>
            </a:r>
            <a:r>
              <a:rPr lang="en-US" dirty="0"/>
              <a:t> Jazz</a:t>
            </a:r>
          </a:p>
          <a:p>
            <a:pPr lvl="1"/>
            <a:r>
              <a:rPr lang="en-US" dirty="0"/>
              <a:t>Sukkur IBA University</a:t>
            </a:r>
          </a:p>
          <a:p>
            <a:pPr lvl="1"/>
            <a:r>
              <a:rPr lang="en-US" dirty="0" err="1"/>
              <a:t>Aberystwyth</a:t>
            </a:r>
            <a:r>
              <a:rPr lang="en-US" dirty="0"/>
              <a:t> University</a:t>
            </a:r>
          </a:p>
          <a:p>
            <a:r>
              <a:rPr lang="en-US" sz="2400" b="1" dirty="0"/>
              <a:t>Duration:</a:t>
            </a:r>
            <a:r>
              <a:rPr lang="en-US" sz="2400" dirty="0"/>
              <a:t> 14 Weeks of lectures</a:t>
            </a:r>
          </a:p>
          <a:p>
            <a:r>
              <a:rPr lang="en-US" sz="2400" b="1" dirty="0"/>
              <a:t>Tools Used:</a:t>
            </a:r>
            <a:r>
              <a:rPr lang="en-US" sz="2400" dirty="0"/>
              <a:t> Python, </a:t>
            </a:r>
            <a:r>
              <a:rPr lang="en-US" sz="2400" dirty="0" err="1"/>
              <a:t>TensorFlow</a:t>
            </a:r>
            <a:r>
              <a:rPr lang="en-US" sz="2400" dirty="0"/>
              <a:t> / </a:t>
            </a:r>
            <a:r>
              <a:rPr lang="en-US" sz="2400" dirty="0" err="1"/>
              <a:t>PyTorch</a:t>
            </a:r>
            <a:r>
              <a:rPr lang="en-US" sz="2400" dirty="0"/>
              <a:t>, Google </a:t>
            </a:r>
            <a:r>
              <a:rPr lang="en-US" sz="2400" dirty="0" err="1"/>
              <a:t>colab</a:t>
            </a:r>
            <a:endParaRPr lang="en-US" sz="2400" dirty="0"/>
          </a:p>
          <a:p>
            <a:r>
              <a:rPr lang="en-US" sz="2400" b="1" dirty="0"/>
              <a:t>Key Topics:</a:t>
            </a:r>
            <a:endParaRPr lang="en-US" sz="2400" dirty="0"/>
          </a:p>
          <a:p>
            <a:r>
              <a:rPr lang="en-US" sz="2400" dirty="0"/>
              <a:t>Fast track Traditional Computer Vision</a:t>
            </a:r>
          </a:p>
          <a:p>
            <a:r>
              <a:rPr lang="en-US" sz="2400" dirty="0"/>
              <a:t>Convolutional Neural Networks (CNNs)</a:t>
            </a:r>
          </a:p>
          <a:p>
            <a:r>
              <a:rPr lang="en-US" sz="2400" dirty="0" err="1"/>
              <a:t>Multilabel</a:t>
            </a:r>
            <a:r>
              <a:rPr lang="en-US" sz="2400" dirty="0"/>
              <a:t> classification</a:t>
            </a:r>
          </a:p>
          <a:p>
            <a:r>
              <a:rPr lang="en-US" sz="2400" dirty="0"/>
              <a:t>Segmentation</a:t>
            </a:r>
          </a:p>
          <a:p>
            <a:r>
              <a:rPr lang="en-US" sz="2400" dirty="0"/>
              <a:t>Explainable AI for Computer Vision</a:t>
            </a:r>
          </a:p>
          <a:p>
            <a:r>
              <a:rPr lang="en-US" sz="2400" dirty="0"/>
              <a:t>Vision Transformer</a:t>
            </a:r>
          </a:p>
          <a:p>
            <a:r>
              <a:rPr lang="en-US" sz="2400" dirty="0"/>
              <a:t>Research Article in Computer Vision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Advanced Computer Vision by Dr. M Asif Khan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7A16-2A17-4549-A1D9-B9B2F7AEB8F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430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Marks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7285"/>
            <a:ext cx="10515600" cy="4779678"/>
          </a:xfrm>
        </p:spPr>
        <p:txBody>
          <a:bodyPr>
            <a:norm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7A16-2A17-4549-A1D9-B9B2F7AEB8FC}" type="slidenum">
              <a:rPr lang="en-GB" smtClean="0"/>
              <a:t>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Computer Vision by Dr. M Asif Khan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740685"/>
              </p:ext>
            </p:extLst>
          </p:nvPr>
        </p:nvGraphicFramePr>
        <p:xfrm>
          <a:off x="903514" y="1984016"/>
          <a:ext cx="10515600" cy="3474720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b="1" dirty="0"/>
                        <a:t>Component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b="1" dirty="0"/>
                        <a:t>Weightage (% of 100 marls)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dirty="0"/>
                        <a:t>Assignments (1-5 total)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7 marks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dirty="0"/>
                        <a:t>Quizzes (2–3)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3%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dirty="0"/>
                        <a:t>Midterm Exam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30%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dirty="0"/>
                        <a:t>Final Exam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50%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dirty="0"/>
                        <a:t>Article + Presentation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6%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dirty="0"/>
                        <a:t>Class Participation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r>
                        <a:rPr lang="en-US" dirty="0"/>
                        <a:t>Attendance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2% (Everyone will get 2</a:t>
                      </a:r>
                      <a:r>
                        <a:rPr lang="en-US" baseline="0" dirty="0"/>
                        <a:t> marks if their attendance is above 95%, between 90-95% will get only 1 mark, below 90% attendance will get 0 out of 2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3268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   Class Discipline Guidelines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Computer Vision by Dr. M Asif Khan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7A16-2A17-4549-A1D9-B9B2F7AEB8FC}" type="slidenum">
              <a:rPr lang="en-GB" smtClean="0"/>
              <a:t>4</a:t>
            </a:fld>
            <a:endParaRPr lang="en-GB"/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sz="quarter" idx="1"/>
          </p:nvPr>
        </p:nvSpPr>
        <p:spPr bwMode="auto">
          <a:xfrm>
            <a:off x="407295" y="1765708"/>
            <a:ext cx="11377410" cy="3649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sz="2400" b="1" dirty="0"/>
              <a:t>Attendance &amp; Punctuality</a:t>
            </a:r>
            <a:r>
              <a:rPr lang="en-US" sz="2400" dirty="0"/>
              <a:t>: Attendance will be marks present till the CMS roster is open.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sz="2400" b="1" dirty="0"/>
              <a:t>Plagiarism:</a:t>
            </a:r>
            <a:r>
              <a:rPr lang="en-US" sz="2400" dirty="0"/>
              <a:t> Copying assignment from classmates not allowed, if copied the all having </a:t>
            </a:r>
          </a:p>
          <a:p>
            <a:pPr marL="0" marR="0" lvl="0" indent="0" fontAlgn="base">
              <a:spcAft>
                <a:spcPct val="0"/>
              </a:spcAft>
              <a:buClrTx/>
              <a:buSzTx/>
              <a:buNone/>
              <a:tabLst/>
            </a:pPr>
            <a:r>
              <a:rPr lang="en-US" sz="2400" dirty="0"/>
              <a:t>   same assignment will get zero.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sz="2400" b="1" dirty="0"/>
              <a:t>Mobile Phones</a:t>
            </a:r>
            <a:r>
              <a:rPr lang="en-US" sz="2400" dirty="0"/>
              <a:t>: Keep on silent; no texting/calling during class.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sz="2400" b="1" dirty="0"/>
              <a:t>Respect</a:t>
            </a:r>
            <a:r>
              <a:rPr lang="en-US" sz="2400" dirty="0"/>
              <a:t>: Maintain professional behavior and respect peers and instructor.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sz="2400" b="1" dirty="0"/>
              <a:t>Deadlines: </a:t>
            </a:r>
            <a:r>
              <a:rPr lang="en-US" sz="2400" dirty="0"/>
              <a:t>No extension of deadlines for Quizzes, assignments and Project submission!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endParaRPr lang="en-US" sz="2400" dirty="0"/>
          </a:p>
          <a:p>
            <a:pPr marL="0" marR="0" lvl="0" indent="0" fontAlgn="base">
              <a:spcAft>
                <a:spcPct val="0"/>
              </a:spcAft>
              <a:buClrTx/>
              <a:buSzTx/>
              <a:buNone/>
              <a:tabLst/>
            </a:pP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89793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10312</TotalTime>
  <Words>328</Words>
  <Application>Microsoft Office PowerPoint</Application>
  <PresentationFormat>Widescreen</PresentationFormat>
  <Paragraphs>62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Computer Vision BS CS-Elective</vt:lpstr>
      <vt:lpstr>   Course Overview Computer Vision</vt:lpstr>
      <vt:lpstr>   Marks Distribution</vt:lpstr>
      <vt:lpstr>   Class Discipline Guidelines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Extraction and Selection based ANFIS interpolation and its application</dc:title>
  <dc:creator>Microsoft account</dc:creator>
  <cp:lastModifiedBy>CRAIB</cp:lastModifiedBy>
  <cp:revision>1065</cp:revision>
  <dcterms:created xsi:type="dcterms:W3CDTF">2023-04-07T16:08:55Z</dcterms:created>
  <dcterms:modified xsi:type="dcterms:W3CDTF">2026-01-12T19:37:22Z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2dfecbd-fc97-4e8a-a9cd-19ed496c406e_Enabled">
    <vt:lpwstr>true</vt:lpwstr>
  </property>
  <property fmtid="{D5CDD505-2E9C-101B-9397-08002B2CF9AE}" pid="3" name="MSIP_Label_f2dfecbd-fc97-4e8a-a9cd-19ed496c406e_SetDate">
    <vt:lpwstr>2023-04-28T22:08:50Z</vt:lpwstr>
  </property>
  <property fmtid="{D5CDD505-2E9C-101B-9397-08002B2CF9AE}" pid="4" name="MSIP_Label_f2dfecbd-fc97-4e8a-a9cd-19ed496c406e_Method">
    <vt:lpwstr>Standard</vt:lpwstr>
  </property>
  <property fmtid="{D5CDD505-2E9C-101B-9397-08002B2CF9AE}" pid="5" name="MSIP_Label_f2dfecbd-fc97-4e8a-a9cd-19ed496c406e_Name">
    <vt:lpwstr>defa4170-0d19-0005-0004-bc88714345d2</vt:lpwstr>
  </property>
  <property fmtid="{D5CDD505-2E9C-101B-9397-08002B2CF9AE}" pid="6" name="MSIP_Label_f2dfecbd-fc97-4e8a-a9cd-19ed496c406e_SiteId">
    <vt:lpwstr>d47b090e-3f5a-4ca0-84d0-9f89d269f175</vt:lpwstr>
  </property>
  <property fmtid="{D5CDD505-2E9C-101B-9397-08002B2CF9AE}" pid="7" name="MSIP_Label_f2dfecbd-fc97-4e8a-a9cd-19ed496c406e_ActionId">
    <vt:lpwstr>199568a8-69d6-4494-8f43-317d73d6900f</vt:lpwstr>
  </property>
  <property fmtid="{D5CDD505-2E9C-101B-9397-08002B2CF9AE}" pid="8" name="MSIP_Label_f2dfecbd-fc97-4e8a-a9cd-19ed496c406e_ContentBits">
    <vt:lpwstr>0</vt:lpwstr>
  </property>
</Properties>
</file>